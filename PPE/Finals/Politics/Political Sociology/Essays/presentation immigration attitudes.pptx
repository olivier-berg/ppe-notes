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modernComment_107_533F1DB0.xml" ContentType="application/vnd.ms-powerpoint.comments+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8" r:id="rId3"/>
    <p:sldId id="260" r:id="rId4"/>
    <p:sldId id="259" r:id="rId5"/>
    <p:sldId id="261" r:id="rId6"/>
    <p:sldId id="262" r:id="rId7"/>
    <p:sldId id="263" r:id="rId8"/>
    <p:sldId id="264" r:id="rId9"/>
    <p:sldId id="257" r:id="rId10"/>
    <p:sldId id="265" r:id="rId11"/>
    <p:sldId id="266" r:id="rId12"/>
    <p:sldId id="267" r:id="rId13"/>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9F066F8-2F48-FCE3-5A4D-35BF52FC155C}" name="Olivier Berg" initials="OB" userId="S::mert5066@ox.ac.uk::59ec23b2-8096-405e-a796-8f49f8d6d9e7"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282"/>
    <p:restoredTop sz="94658"/>
  </p:normalViewPr>
  <p:slideViewPr>
    <p:cSldViewPr snapToGrid="0">
      <p:cViewPr>
        <p:scale>
          <a:sx n="64" d="100"/>
          <a:sy n="64" d="100"/>
        </p:scale>
        <p:origin x="1792" y="13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omments/modernComment_107_533F1DB0.xml><?xml version="1.0" encoding="utf-8"?>
<p188:cmLst xmlns:a="http://schemas.openxmlformats.org/drawingml/2006/main" xmlns:r="http://schemas.openxmlformats.org/officeDocument/2006/relationships" xmlns:p188="http://schemas.microsoft.com/office/powerpoint/2018/8/main">
  <p188:cm id="{31747F9A-20C7-0A43-8AAC-690912BADC82}" authorId="{B9F066F8-2F48-FCE3-5A4D-35BF52FC155C}" created="2026-02-22T22:29:19.856">
    <ac:txMkLst xmlns:ac="http://schemas.microsoft.com/office/drawing/2013/main/command">
      <pc:docMk xmlns:pc="http://schemas.microsoft.com/office/powerpoint/2013/main/command"/>
      <pc:sldMk xmlns:pc="http://schemas.microsoft.com/office/powerpoint/2013/main/command" cId="1396645296" sldId="263"/>
      <ac:spMk id="3" creationId="{8CFF3707-BCFC-599C-DE9F-65A39D0DF906}"/>
      <ac:txMk cp="225" len="16">
        <ac:context len="265" hash="2730109552"/>
      </ac:txMk>
    </ac:txMkLst>
    <p188:pos x="5073502" y="3107882"/>
    <p188:txBody>
      <a:bodyPr/>
      <a:lstStyle/>
      <a:p>
        <a:r>
          <a:rPr lang="nl-NL"/>
          <a:t>As Luigi criticized:
methodology is very bad since i'm controlling for fixed effects but then reintroducing variation in my interaction term, so what does that really mean?
But, still interesting and since results are similar to what the existing literature finds that's good.
Also, don't standardize binary variable.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DC26F3-5DB1-E442-ACCC-AB772616B719}" type="datetimeFigureOut">
              <a:rPr lang="nl-NL" smtClean="0"/>
              <a:t>22-02-2026</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E7E62A-F3E8-9144-9FCE-AA0882496728}" type="slidenum">
              <a:rPr lang="nl-NL" smtClean="0"/>
              <a:t>‹nr.›</a:t>
            </a:fld>
            <a:endParaRPr lang="nl-NL"/>
          </a:p>
        </p:txBody>
      </p:sp>
    </p:spTree>
    <p:extLst>
      <p:ext uri="{BB962C8B-B14F-4D97-AF65-F5344CB8AC3E}">
        <p14:creationId xmlns:p14="http://schemas.microsoft.com/office/powerpoint/2010/main" val="34289267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44E7E62A-F3E8-9144-9FCE-AA0882496728}" type="slidenum">
              <a:rPr lang="nl-NL" smtClean="0"/>
              <a:t>9</a:t>
            </a:fld>
            <a:endParaRPr lang="nl-NL"/>
          </a:p>
        </p:txBody>
      </p:sp>
    </p:spTree>
    <p:extLst>
      <p:ext uri="{BB962C8B-B14F-4D97-AF65-F5344CB8AC3E}">
        <p14:creationId xmlns:p14="http://schemas.microsoft.com/office/powerpoint/2010/main" val="6301647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44E7E62A-F3E8-9144-9FCE-AA0882496728}" type="slidenum">
              <a:rPr lang="nl-NL" smtClean="0"/>
              <a:t>12</a:t>
            </a:fld>
            <a:endParaRPr lang="nl-NL"/>
          </a:p>
        </p:txBody>
      </p:sp>
    </p:spTree>
    <p:extLst>
      <p:ext uri="{BB962C8B-B14F-4D97-AF65-F5344CB8AC3E}">
        <p14:creationId xmlns:p14="http://schemas.microsoft.com/office/powerpoint/2010/main" val="11639458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FBD2FF0-F610-4193-8B80-29ABA7750B2A}"/>
              </a:ext>
            </a:extLst>
          </p:cNvPr>
          <p:cNvSpPr>
            <a:spLocks noGrp="1"/>
          </p:cNvSpPr>
          <p:nvPr>
            <p:ph type="ctrTitle"/>
          </p:nvPr>
        </p:nvSpPr>
        <p:spPr>
          <a:xfrm>
            <a:off x="1524000" y="1122363"/>
            <a:ext cx="9144000" cy="2387600"/>
          </a:xfrm>
        </p:spPr>
        <p:txBody>
          <a:bodyPr anchor="b"/>
          <a:lstStyle>
            <a:lvl1pPr algn="ctr">
              <a:defRPr sz="6000"/>
            </a:lvl1pPr>
          </a:lstStyle>
          <a:p>
            <a:r>
              <a:rPr lang="nl-NL"/>
              <a:t>Klik om stijl te bewerken</a:t>
            </a:r>
          </a:p>
        </p:txBody>
      </p:sp>
      <p:sp>
        <p:nvSpPr>
          <p:cNvPr id="3" name="Ondertitel 2">
            <a:extLst>
              <a:ext uri="{FF2B5EF4-FFF2-40B4-BE49-F238E27FC236}">
                <a16:creationId xmlns:a16="http://schemas.microsoft.com/office/drawing/2014/main" id="{C385B0EF-2DB0-1ECC-5EED-F111E50C347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p>
        </p:txBody>
      </p:sp>
      <p:sp>
        <p:nvSpPr>
          <p:cNvPr id="4" name="Tijdelijke aanduiding voor datum 3">
            <a:extLst>
              <a:ext uri="{FF2B5EF4-FFF2-40B4-BE49-F238E27FC236}">
                <a16:creationId xmlns:a16="http://schemas.microsoft.com/office/drawing/2014/main" id="{1B3C370B-655E-0A98-AAAB-E930DE4CA49A}"/>
              </a:ext>
            </a:extLst>
          </p:cNvPr>
          <p:cNvSpPr>
            <a:spLocks noGrp="1"/>
          </p:cNvSpPr>
          <p:nvPr>
            <p:ph type="dt" sz="half" idx="10"/>
          </p:nvPr>
        </p:nvSpPr>
        <p:spPr/>
        <p:txBody>
          <a:bodyPr/>
          <a:lstStyle/>
          <a:p>
            <a:fld id="{16D452E4-B35A-0747-B039-FC8169E4474E}" type="datetimeFigureOut">
              <a:rPr lang="nl-NL" smtClean="0"/>
              <a:t>22-02-2026</a:t>
            </a:fld>
            <a:endParaRPr lang="nl-NL"/>
          </a:p>
        </p:txBody>
      </p:sp>
      <p:sp>
        <p:nvSpPr>
          <p:cNvPr id="5" name="Tijdelijke aanduiding voor voettekst 4">
            <a:extLst>
              <a:ext uri="{FF2B5EF4-FFF2-40B4-BE49-F238E27FC236}">
                <a16:creationId xmlns:a16="http://schemas.microsoft.com/office/drawing/2014/main" id="{A674E47A-8A2E-63C2-386E-CCA11C7D03BA}"/>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D4BC263B-174C-8CCC-D040-B65980CDAC32}"/>
              </a:ext>
            </a:extLst>
          </p:cNvPr>
          <p:cNvSpPr>
            <a:spLocks noGrp="1"/>
          </p:cNvSpPr>
          <p:nvPr>
            <p:ph type="sldNum" sz="quarter" idx="12"/>
          </p:nvPr>
        </p:nvSpPr>
        <p:spPr/>
        <p:txBody>
          <a:bodyPr/>
          <a:lstStyle/>
          <a:p>
            <a:fld id="{9C3E329B-988D-A94E-B9CE-F5C86886489B}" type="slidenum">
              <a:rPr lang="nl-NL" smtClean="0"/>
              <a:t>‹nr.›</a:t>
            </a:fld>
            <a:endParaRPr lang="nl-NL"/>
          </a:p>
        </p:txBody>
      </p:sp>
    </p:spTree>
    <p:extLst>
      <p:ext uri="{BB962C8B-B14F-4D97-AF65-F5344CB8AC3E}">
        <p14:creationId xmlns:p14="http://schemas.microsoft.com/office/powerpoint/2010/main" val="30234146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ECF253D-9148-C7C9-D6AC-34D719795E4F}"/>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20CDDED1-7983-D842-E4B5-4E176C02C60A}"/>
              </a:ext>
            </a:extLst>
          </p:cNvPr>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BD305ADD-4746-597A-5756-AE9CCBC3AAE5}"/>
              </a:ext>
            </a:extLst>
          </p:cNvPr>
          <p:cNvSpPr>
            <a:spLocks noGrp="1"/>
          </p:cNvSpPr>
          <p:nvPr>
            <p:ph type="dt" sz="half" idx="10"/>
          </p:nvPr>
        </p:nvSpPr>
        <p:spPr/>
        <p:txBody>
          <a:bodyPr/>
          <a:lstStyle/>
          <a:p>
            <a:fld id="{16D452E4-B35A-0747-B039-FC8169E4474E}" type="datetimeFigureOut">
              <a:rPr lang="nl-NL" smtClean="0"/>
              <a:t>22-02-2026</a:t>
            </a:fld>
            <a:endParaRPr lang="nl-NL"/>
          </a:p>
        </p:txBody>
      </p:sp>
      <p:sp>
        <p:nvSpPr>
          <p:cNvPr id="5" name="Tijdelijke aanduiding voor voettekst 4">
            <a:extLst>
              <a:ext uri="{FF2B5EF4-FFF2-40B4-BE49-F238E27FC236}">
                <a16:creationId xmlns:a16="http://schemas.microsoft.com/office/drawing/2014/main" id="{B505A9FC-D90C-63A4-0E07-A47D35136385}"/>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60B85954-9469-75F7-CBE8-45841FB77D07}"/>
              </a:ext>
            </a:extLst>
          </p:cNvPr>
          <p:cNvSpPr>
            <a:spLocks noGrp="1"/>
          </p:cNvSpPr>
          <p:nvPr>
            <p:ph type="sldNum" sz="quarter" idx="12"/>
          </p:nvPr>
        </p:nvSpPr>
        <p:spPr/>
        <p:txBody>
          <a:bodyPr/>
          <a:lstStyle/>
          <a:p>
            <a:fld id="{9C3E329B-988D-A94E-B9CE-F5C86886489B}" type="slidenum">
              <a:rPr lang="nl-NL" smtClean="0"/>
              <a:t>‹nr.›</a:t>
            </a:fld>
            <a:endParaRPr lang="nl-NL"/>
          </a:p>
        </p:txBody>
      </p:sp>
    </p:spTree>
    <p:extLst>
      <p:ext uri="{BB962C8B-B14F-4D97-AF65-F5344CB8AC3E}">
        <p14:creationId xmlns:p14="http://schemas.microsoft.com/office/powerpoint/2010/main" val="34889919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75BCED-C80B-5CBE-855A-B959A02BBE48}"/>
              </a:ext>
            </a:extLst>
          </p:cNvPr>
          <p:cNvSpPr>
            <a:spLocks noGrp="1"/>
          </p:cNvSpPr>
          <p:nvPr>
            <p:ph type="title"/>
          </p:nvPr>
        </p:nvSpPr>
        <p:spPr>
          <a:xfrm>
            <a:off x="831850" y="1709738"/>
            <a:ext cx="10515600" cy="2852737"/>
          </a:xfrm>
        </p:spPr>
        <p:txBody>
          <a:bodyPr anchor="b"/>
          <a:lstStyle>
            <a:lvl1pPr>
              <a:defRPr sz="6000"/>
            </a:lvl1pPr>
          </a:lstStyle>
          <a:p>
            <a:r>
              <a:rPr lang="nl-NL"/>
              <a:t>Klik om stijl te bewerken</a:t>
            </a:r>
          </a:p>
        </p:txBody>
      </p:sp>
      <p:sp>
        <p:nvSpPr>
          <p:cNvPr id="3" name="Tijdelijke aanduiding voor tekst 2">
            <a:extLst>
              <a:ext uri="{FF2B5EF4-FFF2-40B4-BE49-F238E27FC236}">
                <a16:creationId xmlns:a16="http://schemas.microsoft.com/office/drawing/2014/main" id="{ED5580EE-2845-3876-286E-158960E39EE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l-NL"/>
              <a:t>Klikken om de tekststijl van het model te bewerken</a:t>
            </a:r>
          </a:p>
        </p:txBody>
      </p:sp>
      <p:sp>
        <p:nvSpPr>
          <p:cNvPr id="4" name="Tijdelijke aanduiding voor datum 3">
            <a:extLst>
              <a:ext uri="{FF2B5EF4-FFF2-40B4-BE49-F238E27FC236}">
                <a16:creationId xmlns:a16="http://schemas.microsoft.com/office/drawing/2014/main" id="{94F59997-FC7A-151B-EF19-23A3EA57FDD5}"/>
              </a:ext>
            </a:extLst>
          </p:cNvPr>
          <p:cNvSpPr>
            <a:spLocks noGrp="1"/>
          </p:cNvSpPr>
          <p:nvPr>
            <p:ph type="dt" sz="half" idx="10"/>
          </p:nvPr>
        </p:nvSpPr>
        <p:spPr/>
        <p:txBody>
          <a:bodyPr/>
          <a:lstStyle/>
          <a:p>
            <a:fld id="{16D452E4-B35A-0747-B039-FC8169E4474E}" type="datetimeFigureOut">
              <a:rPr lang="nl-NL" smtClean="0"/>
              <a:t>22-02-2026</a:t>
            </a:fld>
            <a:endParaRPr lang="nl-NL"/>
          </a:p>
        </p:txBody>
      </p:sp>
      <p:sp>
        <p:nvSpPr>
          <p:cNvPr id="5" name="Tijdelijke aanduiding voor voettekst 4">
            <a:extLst>
              <a:ext uri="{FF2B5EF4-FFF2-40B4-BE49-F238E27FC236}">
                <a16:creationId xmlns:a16="http://schemas.microsoft.com/office/drawing/2014/main" id="{2995F578-2437-1FC2-17AD-A9685096A509}"/>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CE0D8C30-4E28-8470-9C1C-7C8B855F6E40}"/>
              </a:ext>
            </a:extLst>
          </p:cNvPr>
          <p:cNvSpPr>
            <a:spLocks noGrp="1"/>
          </p:cNvSpPr>
          <p:nvPr>
            <p:ph type="sldNum" sz="quarter" idx="12"/>
          </p:nvPr>
        </p:nvSpPr>
        <p:spPr/>
        <p:txBody>
          <a:bodyPr/>
          <a:lstStyle/>
          <a:p>
            <a:fld id="{9C3E329B-988D-A94E-B9CE-F5C86886489B}" type="slidenum">
              <a:rPr lang="nl-NL" smtClean="0"/>
              <a:t>‹nr.›</a:t>
            </a:fld>
            <a:endParaRPr lang="nl-NL"/>
          </a:p>
        </p:txBody>
      </p:sp>
    </p:spTree>
    <p:extLst>
      <p:ext uri="{BB962C8B-B14F-4D97-AF65-F5344CB8AC3E}">
        <p14:creationId xmlns:p14="http://schemas.microsoft.com/office/powerpoint/2010/main" val="20030832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5EAB048-94A7-618B-4FD6-12C9BD77D18D}"/>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E43A0BC2-D640-C3C7-18C4-A28DC893B59C}"/>
              </a:ext>
            </a:extLst>
          </p:cNvPr>
          <p:cNvSpPr>
            <a:spLocks noGrp="1"/>
          </p:cNvSpPr>
          <p:nvPr>
            <p:ph sz="half" idx="1"/>
          </p:nvPr>
        </p:nvSpPr>
        <p:spPr>
          <a:xfrm>
            <a:off x="838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inhoud 3">
            <a:extLst>
              <a:ext uri="{FF2B5EF4-FFF2-40B4-BE49-F238E27FC236}">
                <a16:creationId xmlns:a16="http://schemas.microsoft.com/office/drawing/2014/main" id="{37B18834-4785-7E93-5CFB-CC95B347500A}"/>
              </a:ext>
            </a:extLst>
          </p:cNvPr>
          <p:cNvSpPr>
            <a:spLocks noGrp="1"/>
          </p:cNvSpPr>
          <p:nvPr>
            <p:ph sz="half" idx="2"/>
          </p:nvPr>
        </p:nvSpPr>
        <p:spPr>
          <a:xfrm>
            <a:off x="6172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datum 4">
            <a:extLst>
              <a:ext uri="{FF2B5EF4-FFF2-40B4-BE49-F238E27FC236}">
                <a16:creationId xmlns:a16="http://schemas.microsoft.com/office/drawing/2014/main" id="{92891A1D-D7A0-6FDE-901B-12D128E3C066}"/>
              </a:ext>
            </a:extLst>
          </p:cNvPr>
          <p:cNvSpPr>
            <a:spLocks noGrp="1"/>
          </p:cNvSpPr>
          <p:nvPr>
            <p:ph type="dt" sz="half" idx="10"/>
          </p:nvPr>
        </p:nvSpPr>
        <p:spPr/>
        <p:txBody>
          <a:bodyPr/>
          <a:lstStyle/>
          <a:p>
            <a:fld id="{16D452E4-B35A-0747-B039-FC8169E4474E}" type="datetimeFigureOut">
              <a:rPr lang="nl-NL" smtClean="0"/>
              <a:t>22-02-2026</a:t>
            </a:fld>
            <a:endParaRPr lang="nl-NL"/>
          </a:p>
        </p:txBody>
      </p:sp>
      <p:sp>
        <p:nvSpPr>
          <p:cNvPr id="6" name="Tijdelijke aanduiding voor voettekst 5">
            <a:extLst>
              <a:ext uri="{FF2B5EF4-FFF2-40B4-BE49-F238E27FC236}">
                <a16:creationId xmlns:a16="http://schemas.microsoft.com/office/drawing/2014/main" id="{2C10E0ED-D434-991B-7543-26E81E8F1ECD}"/>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FF103820-1C54-D51E-EFB7-FDDE1297340E}"/>
              </a:ext>
            </a:extLst>
          </p:cNvPr>
          <p:cNvSpPr>
            <a:spLocks noGrp="1"/>
          </p:cNvSpPr>
          <p:nvPr>
            <p:ph type="sldNum" sz="quarter" idx="12"/>
          </p:nvPr>
        </p:nvSpPr>
        <p:spPr/>
        <p:txBody>
          <a:bodyPr/>
          <a:lstStyle/>
          <a:p>
            <a:fld id="{9C3E329B-988D-A94E-B9CE-F5C86886489B}" type="slidenum">
              <a:rPr lang="nl-NL" smtClean="0"/>
              <a:t>‹nr.›</a:t>
            </a:fld>
            <a:endParaRPr lang="nl-NL"/>
          </a:p>
        </p:txBody>
      </p:sp>
    </p:spTree>
    <p:extLst>
      <p:ext uri="{BB962C8B-B14F-4D97-AF65-F5344CB8AC3E}">
        <p14:creationId xmlns:p14="http://schemas.microsoft.com/office/powerpoint/2010/main" val="4965727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5C21B24-8A32-109C-E113-B0C0464B1BE2}"/>
              </a:ext>
            </a:extLst>
          </p:cNvPr>
          <p:cNvSpPr>
            <a:spLocks noGrp="1"/>
          </p:cNvSpPr>
          <p:nvPr>
            <p:ph type="title"/>
          </p:nvPr>
        </p:nvSpPr>
        <p:spPr>
          <a:xfrm>
            <a:off x="839788" y="365125"/>
            <a:ext cx="10515600" cy="1325563"/>
          </a:xfrm>
        </p:spPr>
        <p:txBody>
          <a:bodyPr/>
          <a:lstStyle/>
          <a:p>
            <a:r>
              <a:rPr lang="nl-NL"/>
              <a:t>Klik om stijl te bewerken</a:t>
            </a:r>
          </a:p>
        </p:txBody>
      </p:sp>
      <p:sp>
        <p:nvSpPr>
          <p:cNvPr id="3" name="Tijdelijke aanduiding voor tekst 2">
            <a:extLst>
              <a:ext uri="{FF2B5EF4-FFF2-40B4-BE49-F238E27FC236}">
                <a16:creationId xmlns:a16="http://schemas.microsoft.com/office/drawing/2014/main" id="{4835BFCA-3A5D-086B-2374-CBCD357B8B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4" name="Tijdelijke aanduiding voor inhoud 3">
            <a:extLst>
              <a:ext uri="{FF2B5EF4-FFF2-40B4-BE49-F238E27FC236}">
                <a16:creationId xmlns:a16="http://schemas.microsoft.com/office/drawing/2014/main" id="{EA7E3045-9656-6EB4-77AD-FEE4DD83DE42}"/>
              </a:ext>
            </a:extLst>
          </p:cNvPr>
          <p:cNvSpPr>
            <a:spLocks noGrp="1"/>
          </p:cNvSpPr>
          <p:nvPr>
            <p:ph sz="half" idx="2"/>
          </p:nvPr>
        </p:nvSpPr>
        <p:spPr>
          <a:xfrm>
            <a:off x="839788" y="2505075"/>
            <a:ext cx="5157787"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tekst 4">
            <a:extLst>
              <a:ext uri="{FF2B5EF4-FFF2-40B4-BE49-F238E27FC236}">
                <a16:creationId xmlns:a16="http://schemas.microsoft.com/office/drawing/2014/main" id="{2E39F985-3065-1E36-542E-ABED321BF4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6" name="Tijdelijke aanduiding voor inhoud 5">
            <a:extLst>
              <a:ext uri="{FF2B5EF4-FFF2-40B4-BE49-F238E27FC236}">
                <a16:creationId xmlns:a16="http://schemas.microsoft.com/office/drawing/2014/main" id="{34D68FBD-EA0A-7FD0-A99C-D61A792119F2}"/>
              </a:ext>
            </a:extLst>
          </p:cNvPr>
          <p:cNvSpPr>
            <a:spLocks noGrp="1"/>
          </p:cNvSpPr>
          <p:nvPr>
            <p:ph sz="quarter" idx="4"/>
          </p:nvPr>
        </p:nvSpPr>
        <p:spPr>
          <a:xfrm>
            <a:off x="6172200" y="2505075"/>
            <a:ext cx="5183188"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7" name="Tijdelijke aanduiding voor datum 6">
            <a:extLst>
              <a:ext uri="{FF2B5EF4-FFF2-40B4-BE49-F238E27FC236}">
                <a16:creationId xmlns:a16="http://schemas.microsoft.com/office/drawing/2014/main" id="{04A7B1FC-000F-DADD-ABA4-887331F26524}"/>
              </a:ext>
            </a:extLst>
          </p:cNvPr>
          <p:cNvSpPr>
            <a:spLocks noGrp="1"/>
          </p:cNvSpPr>
          <p:nvPr>
            <p:ph type="dt" sz="half" idx="10"/>
          </p:nvPr>
        </p:nvSpPr>
        <p:spPr/>
        <p:txBody>
          <a:bodyPr/>
          <a:lstStyle/>
          <a:p>
            <a:fld id="{16D452E4-B35A-0747-B039-FC8169E4474E}" type="datetimeFigureOut">
              <a:rPr lang="nl-NL" smtClean="0"/>
              <a:t>22-02-2026</a:t>
            </a:fld>
            <a:endParaRPr lang="nl-NL"/>
          </a:p>
        </p:txBody>
      </p:sp>
      <p:sp>
        <p:nvSpPr>
          <p:cNvPr id="8" name="Tijdelijke aanduiding voor voettekst 7">
            <a:extLst>
              <a:ext uri="{FF2B5EF4-FFF2-40B4-BE49-F238E27FC236}">
                <a16:creationId xmlns:a16="http://schemas.microsoft.com/office/drawing/2014/main" id="{D2D8CBB2-69BD-8A30-964A-A868F032FEB7}"/>
              </a:ext>
            </a:extLst>
          </p:cNvPr>
          <p:cNvSpPr>
            <a:spLocks noGrp="1"/>
          </p:cNvSpPr>
          <p:nvPr>
            <p:ph type="ftr" sz="quarter" idx="11"/>
          </p:nvPr>
        </p:nvSpPr>
        <p:spPr/>
        <p:txBody>
          <a:bodyPr/>
          <a:lstStyle/>
          <a:p>
            <a:endParaRPr lang="nl-NL"/>
          </a:p>
        </p:txBody>
      </p:sp>
      <p:sp>
        <p:nvSpPr>
          <p:cNvPr id="9" name="Tijdelijke aanduiding voor dianummer 8">
            <a:extLst>
              <a:ext uri="{FF2B5EF4-FFF2-40B4-BE49-F238E27FC236}">
                <a16:creationId xmlns:a16="http://schemas.microsoft.com/office/drawing/2014/main" id="{66887FA1-7266-30BD-8025-E6307EEE1488}"/>
              </a:ext>
            </a:extLst>
          </p:cNvPr>
          <p:cNvSpPr>
            <a:spLocks noGrp="1"/>
          </p:cNvSpPr>
          <p:nvPr>
            <p:ph type="sldNum" sz="quarter" idx="12"/>
          </p:nvPr>
        </p:nvSpPr>
        <p:spPr/>
        <p:txBody>
          <a:bodyPr/>
          <a:lstStyle/>
          <a:p>
            <a:fld id="{9C3E329B-988D-A94E-B9CE-F5C86886489B}" type="slidenum">
              <a:rPr lang="nl-NL" smtClean="0"/>
              <a:t>‹nr.›</a:t>
            </a:fld>
            <a:endParaRPr lang="nl-NL"/>
          </a:p>
        </p:txBody>
      </p:sp>
    </p:spTree>
    <p:extLst>
      <p:ext uri="{BB962C8B-B14F-4D97-AF65-F5344CB8AC3E}">
        <p14:creationId xmlns:p14="http://schemas.microsoft.com/office/powerpoint/2010/main" val="30781118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EA0F831-2A5E-3759-F7BF-1EA29FC965D6}"/>
              </a:ext>
            </a:extLst>
          </p:cNvPr>
          <p:cNvSpPr>
            <a:spLocks noGrp="1"/>
          </p:cNvSpPr>
          <p:nvPr>
            <p:ph type="title"/>
          </p:nvPr>
        </p:nvSpPr>
        <p:spPr/>
        <p:txBody>
          <a:bodyPr/>
          <a:lstStyle/>
          <a:p>
            <a:r>
              <a:rPr lang="nl-NL"/>
              <a:t>Klik om stijl te bewerken</a:t>
            </a:r>
          </a:p>
        </p:txBody>
      </p:sp>
      <p:sp>
        <p:nvSpPr>
          <p:cNvPr id="3" name="Tijdelijke aanduiding voor datum 2">
            <a:extLst>
              <a:ext uri="{FF2B5EF4-FFF2-40B4-BE49-F238E27FC236}">
                <a16:creationId xmlns:a16="http://schemas.microsoft.com/office/drawing/2014/main" id="{AAF1AADC-6A2A-4D2C-DA0A-A90E3F46DBD2}"/>
              </a:ext>
            </a:extLst>
          </p:cNvPr>
          <p:cNvSpPr>
            <a:spLocks noGrp="1"/>
          </p:cNvSpPr>
          <p:nvPr>
            <p:ph type="dt" sz="half" idx="10"/>
          </p:nvPr>
        </p:nvSpPr>
        <p:spPr/>
        <p:txBody>
          <a:bodyPr/>
          <a:lstStyle/>
          <a:p>
            <a:fld id="{16D452E4-B35A-0747-B039-FC8169E4474E}" type="datetimeFigureOut">
              <a:rPr lang="nl-NL" smtClean="0"/>
              <a:t>22-02-2026</a:t>
            </a:fld>
            <a:endParaRPr lang="nl-NL"/>
          </a:p>
        </p:txBody>
      </p:sp>
      <p:sp>
        <p:nvSpPr>
          <p:cNvPr id="4" name="Tijdelijke aanduiding voor voettekst 3">
            <a:extLst>
              <a:ext uri="{FF2B5EF4-FFF2-40B4-BE49-F238E27FC236}">
                <a16:creationId xmlns:a16="http://schemas.microsoft.com/office/drawing/2014/main" id="{4BFBDD68-177E-CED0-D3B4-3B94E5DEF6BE}"/>
              </a:ext>
            </a:extLst>
          </p:cNvPr>
          <p:cNvSpPr>
            <a:spLocks noGrp="1"/>
          </p:cNvSpPr>
          <p:nvPr>
            <p:ph type="ftr" sz="quarter" idx="11"/>
          </p:nvPr>
        </p:nvSpPr>
        <p:spPr/>
        <p:txBody>
          <a:bodyPr/>
          <a:lstStyle/>
          <a:p>
            <a:endParaRPr lang="nl-NL"/>
          </a:p>
        </p:txBody>
      </p:sp>
      <p:sp>
        <p:nvSpPr>
          <p:cNvPr id="5" name="Tijdelijke aanduiding voor dianummer 4">
            <a:extLst>
              <a:ext uri="{FF2B5EF4-FFF2-40B4-BE49-F238E27FC236}">
                <a16:creationId xmlns:a16="http://schemas.microsoft.com/office/drawing/2014/main" id="{AFEB6DDC-F35B-8270-30AF-A7F5DDD13B4F}"/>
              </a:ext>
            </a:extLst>
          </p:cNvPr>
          <p:cNvSpPr>
            <a:spLocks noGrp="1"/>
          </p:cNvSpPr>
          <p:nvPr>
            <p:ph type="sldNum" sz="quarter" idx="12"/>
          </p:nvPr>
        </p:nvSpPr>
        <p:spPr/>
        <p:txBody>
          <a:bodyPr/>
          <a:lstStyle/>
          <a:p>
            <a:fld id="{9C3E329B-988D-A94E-B9CE-F5C86886489B}" type="slidenum">
              <a:rPr lang="nl-NL" smtClean="0"/>
              <a:t>‹nr.›</a:t>
            </a:fld>
            <a:endParaRPr lang="nl-NL"/>
          </a:p>
        </p:txBody>
      </p:sp>
    </p:spTree>
    <p:extLst>
      <p:ext uri="{BB962C8B-B14F-4D97-AF65-F5344CB8AC3E}">
        <p14:creationId xmlns:p14="http://schemas.microsoft.com/office/powerpoint/2010/main" val="6063076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5D411B91-881A-0FBC-E499-5D750BF78595}"/>
              </a:ext>
            </a:extLst>
          </p:cNvPr>
          <p:cNvSpPr>
            <a:spLocks noGrp="1"/>
          </p:cNvSpPr>
          <p:nvPr>
            <p:ph type="dt" sz="half" idx="10"/>
          </p:nvPr>
        </p:nvSpPr>
        <p:spPr/>
        <p:txBody>
          <a:bodyPr/>
          <a:lstStyle/>
          <a:p>
            <a:fld id="{16D452E4-B35A-0747-B039-FC8169E4474E}" type="datetimeFigureOut">
              <a:rPr lang="nl-NL" smtClean="0"/>
              <a:t>22-02-2026</a:t>
            </a:fld>
            <a:endParaRPr lang="nl-NL"/>
          </a:p>
        </p:txBody>
      </p:sp>
      <p:sp>
        <p:nvSpPr>
          <p:cNvPr id="3" name="Tijdelijke aanduiding voor voettekst 2">
            <a:extLst>
              <a:ext uri="{FF2B5EF4-FFF2-40B4-BE49-F238E27FC236}">
                <a16:creationId xmlns:a16="http://schemas.microsoft.com/office/drawing/2014/main" id="{2D7E997B-F98B-26AA-57D4-B90F155C5C05}"/>
              </a:ext>
            </a:extLst>
          </p:cNvPr>
          <p:cNvSpPr>
            <a:spLocks noGrp="1"/>
          </p:cNvSpPr>
          <p:nvPr>
            <p:ph type="ftr" sz="quarter" idx="11"/>
          </p:nvPr>
        </p:nvSpPr>
        <p:spPr/>
        <p:txBody>
          <a:bodyPr/>
          <a:lstStyle/>
          <a:p>
            <a:endParaRPr lang="nl-NL"/>
          </a:p>
        </p:txBody>
      </p:sp>
      <p:sp>
        <p:nvSpPr>
          <p:cNvPr id="4" name="Tijdelijke aanduiding voor dianummer 3">
            <a:extLst>
              <a:ext uri="{FF2B5EF4-FFF2-40B4-BE49-F238E27FC236}">
                <a16:creationId xmlns:a16="http://schemas.microsoft.com/office/drawing/2014/main" id="{A12B1548-9B51-1977-FBC1-B50A398FD976}"/>
              </a:ext>
            </a:extLst>
          </p:cNvPr>
          <p:cNvSpPr>
            <a:spLocks noGrp="1"/>
          </p:cNvSpPr>
          <p:nvPr>
            <p:ph type="sldNum" sz="quarter" idx="12"/>
          </p:nvPr>
        </p:nvSpPr>
        <p:spPr/>
        <p:txBody>
          <a:bodyPr/>
          <a:lstStyle/>
          <a:p>
            <a:fld id="{9C3E329B-988D-A94E-B9CE-F5C86886489B}" type="slidenum">
              <a:rPr lang="nl-NL" smtClean="0"/>
              <a:t>‹nr.›</a:t>
            </a:fld>
            <a:endParaRPr lang="nl-NL"/>
          </a:p>
        </p:txBody>
      </p:sp>
    </p:spTree>
    <p:extLst>
      <p:ext uri="{BB962C8B-B14F-4D97-AF65-F5344CB8AC3E}">
        <p14:creationId xmlns:p14="http://schemas.microsoft.com/office/powerpoint/2010/main" val="17892208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36A4C4D-FF1B-1413-8831-262699DBB503}"/>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inhoud 2">
            <a:extLst>
              <a:ext uri="{FF2B5EF4-FFF2-40B4-BE49-F238E27FC236}">
                <a16:creationId xmlns:a16="http://schemas.microsoft.com/office/drawing/2014/main" id="{5B9FF2FB-86B0-B28B-20F3-03ED1AB54C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tekst 3">
            <a:extLst>
              <a:ext uri="{FF2B5EF4-FFF2-40B4-BE49-F238E27FC236}">
                <a16:creationId xmlns:a16="http://schemas.microsoft.com/office/drawing/2014/main" id="{49BB1ECD-7FB7-C35D-69A7-458C22122D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F86283AD-E439-C1D1-B5D7-88AFA3624E36}"/>
              </a:ext>
            </a:extLst>
          </p:cNvPr>
          <p:cNvSpPr>
            <a:spLocks noGrp="1"/>
          </p:cNvSpPr>
          <p:nvPr>
            <p:ph type="dt" sz="half" idx="10"/>
          </p:nvPr>
        </p:nvSpPr>
        <p:spPr/>
        <p:txBody>
          <a:bodyPr/>
          <a:lstStyle/>
          <a:p>
            <a:fld id="{16D452E4-B35A-0747-B039-FC8169E4474E}" type="datetimeFigureOut">
              <a:rPr lang="nl-NL" smtClean="0"/>
              <a:t>22-02-2026</a:t>
            </a:fld>
            <a:endParaRPr lang="nl-NL"/>
          </a:p>
        </p:txBody>
      </p:sp>
      <p:sp>
        <p:nvSpPr>
          <p:cNvPr id="6" name="Tijdelijke aanduiding voor voettekst 5">
            <a:extLst>
              <a:ext uri="{FF2B5EF4-FFF2-40B4-BE49-F238E27FC236}">
                <a16:creationId xmlns:a16="http://schemas.microsoft.com/office/drawing/2014/main" id="{1F0678C1-8537-6122-F348-C8E424E04FE8}"/>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745C6061-176F-21F2-B21E-03FFA179C6FA}"/>
              </a:ext>
            </a:extLst>
          </p:cNvPr>
          <p:cNvSpPr>
            <a:spLocks noGrp="1"/>
          </p:cNvSpPr>
          <p:nvPr>
            <p:ph type="sldNum" sz="quarter" idx="12"/>
          </p:nvPr>
        </p:nvSpPr>
        <p:spPr/>
        <p:txBody>
          <a:bodyPr/>
          <a:lstStyle/>
          <a:p>
            <a:fld id="{9C3E329B-988D-A94E-B9CE-F5C86886489B}" type="slidenum">
              <a:rPr lang="nl-NL" smtClean="0"/>
              <a:t>‹nr.›</a:t>
            </a:fld>
            <a:endParaRPr lang="nl-NL"/>
          </a:p>
        </p:txBody>
      </p:sp>
    </p:spTree>
    <p:extLst>
      <p:ext uri="{BB962C8B-B14F-4D97-AF65-F5344CB8AC3E}">
        <p14:creationId xmlns:p14="http://schemas.microsoft.com/office/powerpoint/2010/main" val="1245946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D4802BA-BD3C-2EF0-C33D-36210B7CA8BB}"/>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afbeelding 2">
            <a:extLst>
              <a:ext uri="{FF2B5EF4-FFF2-40B4-BE49-F238E27FC236}">
                <a16:creationId xmlns:a16="http://schemas.microsoft.com/office/drawing/2014/main" id="{E77745C1-F246-EE80-9D1A-BA35717EE9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ijdelijke aanduiding voor tekst 3">
            <a:extLst>
              <a:ext uri="{FF2B5EF4-FFF2-40B4-BE49-F238E27FC236}">
                <a16:creationId xmlns:a16="http://schemas.microsoft.com/office/drawing/2014/main" id="{DC088BED-6193-C5BF-1A8C-37F9B74534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2CED31E6-EDF6-4E14-21A9-6B5D7ECFB26F}"/>
              </a:ext>
            </a:extLst>
          </p:cNvPr>
          <p:cNvSpPr>
            <a:spLocks noGrp="1"/>
          </p:cNvSpPr>
          <p:nvPr>
            <p:ph type="dt" sz="half" idx="10"/>
          </p:nvPr>
        </p:nvSpPr>
        <p:spPr/>
        <p:txBody>
          <a:bodyPr/>
          <a:lstStyle/>
          <a:p>
            <a:fld id="{16D452E4-B35A-0747-B039-FC8169E4474E}" type="datetimeFigureOut">
              <a:rPr lang="nl-NL" smtClean="0"/>
              <a:t>22-02-2026</a:t>
            </a:fld>
            <a:endParaRPr lang="nl-NL"/>
          </a:p>
        </p:txBody>
      </p:sp>
      <p:sp>
        <p:nvSpPr>
          <p:cNvPr id="6" name="Tijdelijke aanduiding voor voettekst 5">
            <a:extLst>
              <a:ext uri="{FF2B5EF4-FFF2-40B4-BE49-F238E27FC236}">
                <a16:creationId xmlns:a16="http://schemas.microsoft.com/office/drawing/2014/main" id="{3907DDCB-DFDC-EABC-292B-EBA8096BC470}"/>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05DA56E2-43B8-33E8-E73E-9B11FDFDC5CE}"/>
              </a:ext>
            </a:extLst>
          </p:cNvPr>
          <p:cNvSpPr>
            <a:spLocks noGrp="1"/>
          </p:cNvSpPr>
          <p:nvPr>
            <p:ph type="sldNum" sz="quarter" idx="12"/>
          </p:nvPr>
        </p:nvSpPr>
        <p:spPr/>
        <p:txBody>
          <a:bodyPr/>
          <a:lstStyle/>
          <a:p>
            <a:fld id="{9C3E329B-988D-A94E-B9CE-F5C86886489B}" type="slidenum">
              <a:rPr lang="nl-NL" smtClean="0"/>
              <a:t>‹nr.›</a:t>
            </a:fld>
            <a:endParaRPr lang="nl-NL"/>
          </a:p>
        </p:txBody>
      </p:sp>
    </p:spTree>
    <p:extLst>
      <p:ext uri="{BB962C8B-B14F-4D97-AF65-F5344CB8AC3E}">
        <p14:creationId xmlns:p14="http://schemas.microsoft.com/office/powerpoint/2010/main" val="10860513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F24DF3B-7A9E-66CC-1003-CBA4A3E1F292}"/>
              </a:ext>
            </a:extLst>
          </p:cNvPr>
          <p:cNvSpPr>
            <a:spLocks noGrp="1"/>
          </p:cNvSpPr>
          <p:nvPr>
            <p:ph type="title"/>
          </p:nvPr>
        </p:nvSpPr>
        <p:spPr/>
        <p:txBody>
          <a:bodyPr/>
          <a:lstStyle/>
          <a:p>
            <a:r>
              <a:rPr lang="nl-NL"/>
              <a:t>Klik om stijl te bewerken</a:t>
            </a:r>
          </a:p>
        </p:txBody>
      </p:sp>
      <p:sp>
        <p:nvSpPr>
          <p:cNvPr id="3" name="Tijdelijke aanduiding voor verticale tekst 2">
            <a:extLst>
              <a:ext uri="{FF2B5EF4-FFF2-40B4-BE49-F238E27FC236}">
                <a16:creationId xmlns:a16="http://schemas.microsoft.com/office/drawing/2014/main" id="{B10F7DF4-0B23-86D9-0A2C-3AC047432882}"/>
              </a:ext>
            </a:extLst>
          </p:cNvPr>
          <p:cNvSpPr>
            <a:spLocks noGrp="1"/>
          </p:cNvSpPr>
          <p:nvPr>
            <p:ph type="body" orient="vert" idx="1"/>
          </p:nvPr>
        </p:nvSpPr>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17585A79-3696-05E6-CAAD-194258DD50B2}"/>
              </a:ext>
            </a:extLst>
          </p:cNvPr>
          <p:cNvSpPr>
            <a:spLocks noGrp="1"/>
          </p:cNvSpPr>
          <p:nvPr>
            <p:ph type="dt" sz="half" idx="10"/>
          </p:nvPr>
        </p:nvSpPr>
        <p:spPr/>
        <p:txBody>
          <a:bodyPr/>
          <a:lstStyle/>
          <a:p>
            <a:fld id="{16D452E4-B35A-0747-B039-FC8169E4474E}" type="datetimeFigureOut">
              <a:rPr lang="nl-NL" smtClean="0"/>
              <a:t>22-02-2026</a:t>
            </a:fld>
            <a:endParaRPr lang="nl-NL"/>
          </a:p>
        </p:txBody>
      </p:sp>
      <p:sp>
        <p:nvSpPr>
          <p:cNvPr id="5" name="Tijdelijke aanduiding voor voettekst 4">
            <a:extLst>
              <a:ext uri="{FF2B5EF4-FFF2-40B4-BE49-F238E27FC236}">
                <a16:creationId xmlns:a16="http://schemas.microsoft.com/office/drawing/2014/main" id="{91456A46-E6F2-347D-0C51-CF09B5E67990}"/>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6E429DDF-DA2A-BEC7-6BAC-B92934AC6B9D}"/>
              </a:ext>
            </a:extLst>
          </p:cNvPr>
          <p:cNvSpPr>
            <a:spLocks noGrp="1"/>
          </p:cNvSpPr>
          <p:nvPr>
            <p:ph type="sldNum" sz="quarter" idx="12"/>
          </p:nvPr>
        </p:nvSpPr>
        <p:spPr/>
        <p:txBody>
          <a:bodyPr/>
          <a:lstStyle/>
          <a:p>
            <a:fld id="{9C3E329B-988D-A94E-B9CE-F5C86886489B}" type="slidenum">
              <a:rPr lang="nl-NL" smtClean="0"/>
              <a:t>‹nr.›</a:t>
            </a:fld>
            <a:endParaRPr lang="nl-NL"/>
          </a:p>
        </p:txBody>
      </p:sp>
    </p:spTree>
    <p:extLst>
      <p:ext uri="{BB962C8B-B14F-4D97-AF65-F5344CB8AC3E}">
        <p14:creationId xmlns:p14="http://schemas.microsoft.com/office/powerpoint/2010/main" val="18199522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a:extLst>
              <a:ext uri="{FF2B5EF4-FFF2-40B4-BE49-F238E27FC236}">
                <a16:creationId xmlns:a16="http://schemas.microsoft.com/office/drawing/2014/main" id="{E02B06D4-2C41-30C3-8294-781EEEB7FDD7}"/>
              </a:ext>
            </a:extLst>
          </p:cNvPr>
          <p:cNvSpPr>
            <a:spLocks noGrp="1"/>
          </p:cNvSpPr>
          <p:nvPr>
            <p:ph type="title" orient="vert"/>
          </p:nvPr>
        </p:nvSpPr>
        <p:spPr>
          <a:xfrm>
            <a:off x="8724900" y="365125"/>
            <a:ext cx="2628900" cy="5811838"/>
          </a:xfrm>
        </p:spPr>
        <p:txBody>
          <a:bodyPr vert="eaVert"/>
          <a:lstStyle/>
          <a:p>
            <a:r>
              <a:rPr lang="nl-NL"/>
              <a:t>Klik om stijl te bewerken</a:t>
            </a:r>
          </a:p>
        </p:txBody>
      </p:sp>
      <p:sp>
        <p:nvSpPr>
          <p:cNvPr id="3" name="Tijdelijke aanduiding voor verticale tekst 2">
            <a:extLst>
              <a:ext uri="{FF2B5EF4-FFF2-40B4-BE49-F238E27FC236}">
                <a16:creationId xmlns:a16="http://schemas.microsoft.com/office/drawing/2014/main" id="{2FCD34F6-AC17-50AA-3C94-46EC5F06738D}"/>
              </a:ext>
            </a:extLst>
          </p:cNvPr>
          <p:cNvSpPr>
            <a:spLocks noGrp="1"/>
          </p:cNvSpPr>
          <p:nvPr>
            <p:ph type="body" orient="vert" idx="1"/>
          </p:nvPr>
        </p:nvSpPr>
        <p:spPr>
          <a:xfrm>
            <a:off x="838200" y="365125"/>
            <a:ext cx="7734300" cy="5811838"/>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2D6D7E7A-232D-20B5-D0D2-7F7BDE471F58}"/>
              </a:ext>
            </a:extLst>
          </p:cNvPr>
          <p:cNvSpPr>
            <a:spLocks noGrp="1"/>
          </p:cNvSpPr>
          <p:nvPr>
            <p:ph type="dt" sz="half" idx="10"/>
          </p:nvPr>
        </p:nvSpPr>
        <p:spPr/>
        <p:txBody>
          <a:bodyPr/>
          <a:lstStyle/>
          <a:p>
            <a:fld id="{16D452E4-B35A-0747-B039-FC8169E4474E}" type="datetimeFigureOut">
              <a:rPr lang="nl-NL" smtClean="0"/>
              <a:t>22-02-2026</a:t>
            </a:fld>
            <a:endParaRPr lang="nl-NL"/>
          </a:p>
        </p:txBody>
      </p:sp>
      <p:sp>
        <p:nvSpPr>
          <p:cNvPr id="5" name="Tijdelijke aanduiding voor voettekst 4">
            <a:extLst>
              <a:ext uri="{FF2B5EF4-FFF2-40B4-BE49-F238E27FC236}">
                <a16:creationId xmlns:a16="http://schemas.microsoft.com/office/drawing/2014/main" id="{73516DA3-48B3-943F-CCF2-2DB7DA2E619A}"/>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680F0DD2-D216-6715-F4CF-FAD937818766}"/>
              </a:ext>
            </a:extLst>
          </p:cNvPr>
          <p:cNvSpPr>
            <a:spLocks noGrp="1"/>
          </p:cNvSpPr>
          <p:nvPr>
            <p:ph type="sldNum" sz="quarter" idx="12"/>
          </p:nvPr>
        </p:nvSpPr>
        <p:spPr/>
        <p:txBody>
          <a:bodyPr/>
          <a:lstStyle/>
          <a:p>
            <a:fld id="{9C3E329B-988D-A94E-B9CE-F5C86886489B}" type="slidenum">
              <a:rPr lang="nl-NL" smtClean="0"/>
              <a:t>‹nr.›</a:t>
            </a:fld>
            <a:endParaRPr lang="nl-NL"/>
          </a:p>
        </p:txBody>
      </p:sp>
    </p:spTree>
    <p:extLst>
      <p:ext uri="{BB962C8B-B14F-4D97-AF65-F5344CB8AC3E}">
        <p14:creationId xmlns:p14="http://schemas.microsoft.com/office/powerpoint/2010/main" val="31891851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DF25882D-A4B9-2DB7-05BF-48772963B1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p>
        </p:txBody>
      </p:sp>
      <p:sp>
        <p:nvSpPr>
          <p:cNvPr id="3" name="Tijdelijke aanduiding voor tekst 2">
            <a:extLst>
              <a:ext uri="{FF2B5EF4-FFF2-40B4-BE49-F238E27FC236}">
                <a16:creationId xmlns:a16="http://schemas.microsoft.com/office/drawing/2014/main" id="{E6FCBE55-F6F7-03E1-6D70-1A459F8AB5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64722F57-F360-910F-B7A6-326BCA0F5F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6D452E4-B35A-0747-B039-FC8169E4474E}" type="datetimeFigureOut">
              <a:rPr lang="nl-NL" smtClean="0"/>
              <a:t>22-02-2026</a:t>
            </a:fld>
            <a:endParaRPr lang="nl-NL"/>
          </a:p>
        </p:txBody>
      </p:sp>
      <p:sp>
        <p:nvSpPr>
          <p:cNvPr id="5" name="Tijdelijke aanduiding voor voettekst 4">
            <a:extLst>
              <a:ext uri="{FF2B5EF4-FFF2-40B4-BE49-F238E27FC236}">
                <a16:creationId xmlns:a16="http://schemas.microsoft.com/office/drawing/2014/main" id="{F9002F0E-2403-80BB-637C-3D8CB51AC1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l-NL"/>
          </a:p>
        </p:txBody>
      </p:sp>
      <p:sp>
        <p:nvSpPr>
          <p:cNvPr id="6" name="Tijdelijke aanduiding voor dianummer 5">
            <a:extLst>
              <a:ext uri="{FF2B5EF4-FFF2-40B4-BE49-F238E27FC236}">
                <a16:creationId xmlns:a16="http://schemas.microsoft.com/office/drawing/2014/main" id="{647379A1-B884-C2B7-BD93-485401AAF2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C3E329B-988D-A94E-B9CE-F5C86886489B}" type="slidenum">
              <a:rPr lang="nl-NL" smtClean="0"/>
              <a:t>‹nr.›</a:t>
            </a:fld>
            <a:endParaRPr lang="nl-NL"/>
          </a:p>
        </p:txBody>
      </p:sp>
    </p:spTree>
    <p:extLst>
      <p:ext uri="{BB962C8B-B14F-4D97-AF65-F5344CB8AC3E}">
        <p14:creationId xmlns:p14="http://schemas.microsoft.com/office/powerpoint/2010/main" val="9604679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microsoft.com/office/2018/10/relationships/comments" Target="../comments/modernComment_107_533F1DB0.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D720119-CF80-4569-D4C2-2F85C1DA201F}"/>
              </a:ext>
            </a:extLst>
          </p:cNvPr>
          <p:cNvSpPr>
            <a:spLocks noGrp="1"/>
          </p:cNvSpPr>
          <p:nvPr>
            <p:ph type="ctrTitle"/>
          </p:nvPr>
        </p:nvSpPr>
        <p:spPr/>
        <p:txBody>
          <a:bodyPr>
            <a:normAutofit/>
          </a:bodyPr>
          <a:lstStyle/>
          <a:p>
            <a:r>
              <a:rPr lang="en-GB" b="1" dirty="0"/>
              <a:t>Attitudes to immigrants</a:t>
            </a:r>
            <a:endParaRPr lang="en-GB" dirty="0"/>
          </a:p>
        </p:txBody>
      </p:sp>
      <p:sp>
        <p:nvSpPr>
          <p:cNvPr id="3" name="Ondertitel 2">
            <a:extLst>
              <a:ext uri="{FF2B5EF4-FFF2-40B4-BE49-F238E27FC236}">
                <a16:creationId xmlns:a16="http://schemas.microsoft.com/office/drawing/2014/main" id="{F8A2AF8C-E9C4-85DC-BF68-C1C1849BCB6F}"/>
              </a:ext>
            </a:extLst>
          </p:cNvPr>
          <p:cNvSpPr>
            <a:spLocks noGrp="1"/>
          </p:cNvSpPr>
          <p:nvPr>
            <p:ph type="subTitle" idx="1"/>
          </p:nvPr>
        </p:nvSpPr>
        <p:spPr/>
        <p:txBody>
          <a:bodyPr/>
          <a:lstStyle/>
          <a:p>
            <a:r>
              <a:rPr lang="en-GB" dirty="0"/>
              <a:t>Socio-tropic versus ego-tropic</a:t>
            </a:r>
          </a:p>
        </p:txBody>
      </p:sp>
    </p:spTree>
    <p:extLst>
      <p:ext uri="{BB962C8B-B14F-4D97-AF65-F5344CB8AC3E}">
        <p14:creationId xmlns:p14="http://schemas.microsoft.com/office/powerpoint/2010/main" val="33438844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CE8FD2C-3D8C-2C9C-35BB-E0E714E5535C}"/>
              </a:ext>
            </a:extLst>
          </p:cNvPr>
          <p:cNvSpPr>
            <a:spLocks noGrp="1"/>
          </p:cNvSpPr>
          <p:nvPr>
            <p:ph type="title"/>
          </p:nvPr>
        </p:nvSpPr>
        <p:spPr/>
        <p:txBody>
          <a:bodyPr/>
          <a:lstStyle/>
          <a:p>
            <a:r>
              <a:rPr lang="en-GB" dirty="0"/>
              <a:t>Background</a:t>
            </a:r>
          </a:p>
        </p:txBody>
      </p:sp>
      <p:sp>
        <p:nvSpPr>
          <p:cNvPr id="3" name="Tijdelijke aanduiding voor inhoud 2">
            <a:extLst>
              <a:ext uri="{FF2B5EF4-FFF2-40B4-BE49-F238E27FC236}">
                <a16:creationId xmlns:a16="http://schemas.microsoft.com/office/drawing/2014/main" id="{28597CD3-9A9F-D8F7-6D93-0E2F1B3AB4DE}"/>
              </a:ext>
            </a:extLst>
          </p:cNvPr>
          <p:cNvSpPr>
            <a:spLocks noGrp="1"/>
          </p:cNvSpPr>
          <p:nvPr>
            <p:ph idx="1"/>
          </p:nvPr>
        </p:nvSpPr>
        <p:spPr/>
        <p:txBody>
          <a:bodyPr/>
          <a:lstStyle/>
          <a:p>
            <a:r>
              <a:rPr lang="en-GB" dirty="0"/>
              <a:t>What causes anti-immigration attitudes?</a:t>
            </a:r>
          </a:p>
          <a:p>
            <a:r>
              <a:rPr lang="en-GB" dirty="0"/>
              <a:t>Cultural or economic threat</a:t>
            </a:r>
          </a:p>
          <a:p>
            <a:r>
              <a:rPr lang="en-GB" dirty="0"/>
              <a:t>I mainly focus on economic threat</a:t>
            </a:r>
          </a:p>
          <a:p>
            <a:r>
              <a:rPr lang="en-GB" dirty="0"/>
              <a:t>Is it socio-tropic or ego-tropic</a:t>
            </a:r>
          </a:p>
        </p:txBody>
      </p:sp>
    </p:spTree>
    <p:extLst>
      <p:ext uri="{BB962C8B-B14F-4D97-AF65-F5344CB8AC3E}">
        <p14:creationId xmlns:p14="http://schemas.microsoft.com/office/powerpoint/2010/main" val="37482668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E7849B9-5CAF-A964-41BF-6C634AAB466C}"/>
              </a:ext>
            </a:extLst>
          </p:cNvPr>
          <p:cNvSpPr>
            <a:spLocks noGrp="1"/>
          </p:cNvSpPr>
          <p:nvPr>
            <p:ph type="title"/>
          </p:nvPr>
        </p:nvSpPr>
        <p:spPr/>
        <p:txBody>
          <a:bodyPr/>
          <a:lstStyle/>
          <a:p>
            <a:r>
              <a:rPr lang="en-GB" dirty="0"/>
              <a:t>Theoretical Framework</a:t>
            </a:r>
          </a:p>
        </p:txBody>
      </p:sp>
      <p:sp>
        <p:nvSpPr>
          <p:cNvPr id="3" name="Tijdelijke aanduiding voor inhoud 2">
            <a:extLst>
              <a:ext uri="{FF2B5EF4-FFF2-40B4-BE49-F238E27FC236}">
                <a16:creationId xmlns:a16="http://schemas.microsoft.com/office/drawing/2014/main" id="{610F83E7-B4D6-DAA6-5EA7-7873DDF187D8}"/>
              </a:ext>
            </a:extLst>
          </p:cNvPr>
          <p:cNvSpPr>
            <a:spLocks noGrp="1"/>
          </p:cNvSpPr>
          <p:nvPr>
            <p:ph idx="1"/>
          </p:nvPr>
        </p:nvSpPr>
        <p:spPr/>
        <p:txBody>
          <a:bodyPr>
            <a:normAutofit fontScale="92500" lnSpcReduction="20000"/>
          </a:bodyPr>
          <a:lstStyle/>
          <a:p>
            <a:r>
              <a:rPr lang="en-GB" dirty="0"/>
              <a:t>Self-interest hypothesis</a:t>
            </a:r>
          </a:p>
          <a:p>
            <a:pPr lvl="1"/>
            <a:r>
              <a:rPr lang="en-GB" dirty="0"/>
              <a:t>Unemployed individuals face direct labour-market competition → should be more sensitive to increases in immigrant share</a:t>
            </a:r>
          </a:p>
          <a:p>
            <a:r>
              <a:rPr lang="en-GB" dirty="0" err="1"/>
              <a:t>Sociotropic</a:t>
            </a:r>
            <a:r>
              <a:rPr lang="en-GB" dirty="0"/>
              <a:t> threat hypothesis</a:t>
            </a:r>
          </a:p>
          <a:p>
            <a:pPr lvl="1"/>
            <a:r>
              <a:rPr lang="en-GB" dirty="0"/>
              <a:t>Economic concerns are driven by national conditions, not personal experience → attitudes should not vary by individual unemployment history.</a:t>
            </a:r>
          </a:p>
          <a:p>
            <a:endParaRPr lang="en-GB" dirty="0"/>
          </a:p>
          <a:p>
            <a:r>
              <a:rPr lang="en-GB" dirty="0"/>
              <a:t>Jeannet (2018) finds becoming pensioner does not change attitudes</a:t>
            </a:r>
          </a:p>
          <a:p>
            <a:r>
              <a:rPr lang="en-GB" dirty="0"/>
              <a:t>Individual versus socio-tropic (</a:t>
            </a:r>
            <a:r>
              <a:rPr lang="en-GB" dirty="0" err="1"/>
              <a:t>Hainmueller</a:t>
            </a:r>
            <a:r>
              <a:rPr lang="en-GB" dirty="0"/>
              <a:t> and Hopkins 2014; Cavaille and Marshall 2018)</a:t>
            </a:r>
          </a:p>
          <a:p>
            <a:r>
              <a:rPr lang="en-GB" dirty="0"/>
              <a:t>Anti-immigrant attitudes due to unemployment is conditional on immigration numbers. Analysis is on country-level (</a:t>
            </a:r>
            <a:r>
              <a:rPr lang="en-GB" dirty="0" err="1"/>
              <a:t>Finseraas</a:t>
            </a:r>
            <a:r>
              <a:rPr lang="en-GB" dirty="0"/>
              <a:t> et al. 2016)</a:t>
            </a:r>
          </a:p>
          <a:p>
            <a:endParaRPr lang="en-GB" dirty="0"/>
          </a:p>
          <a:p>
            <a:endParaRPr lang="en-GB" dirty="0"/>
          </a:p>
        </p:txBody>
      </p:sp>
    </p:spTree>
    <p:extLst>
      <p:ext uri="{BB962C8B-B14F-4D97-AF65-F5344CB8AC3E}">
        <p14:creationId xmlns:p14="http://schemas.microsoft.com/office/powerpoint/2010/main" val="28002698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5CB3043-C0F6-813B-38D5-04344CA9408D}"/>
              </a:ext>
            </a:extLst>
          </p:cNvPr>
          <p:cNvSpPr>
            <a:spLocks noGrp="1"/>
          </p:cNvSpPr>
          <p:nvPr>
            <p:ph type="title"/>
          </p:nvPr>
        </p:nvSpPr>
        <p:spPr/>
        <p:txBody>
          <a:bodyPr/>
          <a:lstStyle/>
          <a:p>
            <a:r>
              <a:rPr lang="en-GB" dirty="0"/>
              <a:t>Research Question</a:t>
            </a:r>
          </a:p>
        </p:txBody>
      </p:sp>
      <p:sp>
        <p:nvSpPr>
          <p:cNvPr id="3" name="Tijdelijke aanduiding voor inhoud 2">
            <a:extLst>
              <a:ext uri="{FF2B5EF4-FFF2-40B4-BE49-F238E27FC236}">
                <a16:creationId xmlns:a16="http://schemas.microsoft.com/office/drawing/2014/main" id="{FCF4F0AA-E282-25B8-33EB-6F2AEEB3BCE8}"/>
              </a:ext>
            </a:extLst>
          </p:cNvPr>
          <p:cNvSpPr>
            <a:spLocks noGrp="1"/>
          </p:cNvSpPr>
          <p:nvPr>
            <p:ph idx="1"/>
          </p:nvPr>
        </p:nvSpPr>
        <p:spPr/>
        <p:txBody>
          <a:bodyPr/>
          <a:lstStyle/>
          <a:p>
            <a:r>
              <a:rPr lang="en-GB" dirty="0"/>
              <a:t>Do individuals with unemployment experience respond more negatively to increases in local immigrant share?</a:t>
            </a:r>
          </a:p>
          <a:p>
            <a:endParaRPr lang="en-GB" dirty="0"/>
          </a:p>
          <a:p>
            <a:r>
              <a:rPr lang="en-GB" dirty="0"/>
              <a:t>Mirrors </a:t>
            </a:r>
            <a:r>
              <a:rPr lang="en-GB" dirty="0" err="1"/>
              <a:t>Finseraas</a:t>
            </a:r>
            <a:r>
              <a:rPr lang="en-GB" dirty="0"/>
              <a:t> et al. (2016) but on individual level</a:t>
            </a:r>
          </a:p>
          <a:p>
            <a:r>
              <a:rPr lang="en-GB" dirty="0"/>
              <a:t>Also, the “immigrant share” factor is more complicated (Claassen and McLaren 2021)</a:t>
            </a:r>
          </a:p>
        </p:txBody>
      </p:sp>
    </p:spTree>
    <p:extLst>
      <p:ext uri="{BB962C8B-B14F-4D97-AF65-F5344CB8AC3E}">
        <p14:creationId xmlns:p14="http://schemas.microsoft.com/office/powerpoint/2010/main" val="38239083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22C6DE6-90EF-7978-16B8-69A91F9B87BD}"/>
              </a:ext>
            </a:extLst>
          </p:cNvPr>
          <p:cNvSpPr>
            <a:spLocks noGrp="1"/>
          </p:cNvSpPr>
          <p:nvPr>
            <p:ph type="title"/>
          </p:nvPr>
        </p:nvSpPr>
        <p:spPr/>
        <p:txBody>
          <a:bodyPr/>
          <a:lstStyle/>
          <a:p>
            <a:r>
              <a:rPr lang="en-GB" dirty="0"/>
              <a:t>Hypotheses</a:t>
            </a:r>
          </a:p>
        </p:txBody>
      </p:sp>
      <p:sp>
        <p:nvSpPr>
          <p:cNvPr id="3" name="Tijdelijke aanduiding voor inhoud 2">
            <a:extLst>
              <a:ext uri="{FF2B5EF4-FFF2-40B4-BE49-F238E27FC236}">
                <a16:creationId xmlns:a16="http://schemas.microsoft.com/office/drawing/2014/main" id="{2152819F-4800-E225-F688-3E81FD67597A}"/>
              </a:ext>
            </a:extLst>
          </p:cNvPr>
          <p:cNvSpPr>
            <a:spLocks noGrp="1"/>
          </p:cNvSpPr>
          <p:nvPr>
            <p:ph idx="1"/>
          </p:nvPr>
        </p:nvSpPr>
        <p:spPr/>
        <p:txBody>
          <a:bodyPr/>
          <a:lstStyle/>
          <a:p>
            <a:r>
              <a:rPr lang="en-GB" b="1" dirty="0"/>
              <a:t>H1 (Main effect):</a:t>
            </a:r>
            <a:r>
              <a:rPr lang="en-GB" dirty="0"/>
              <a:t> Higher immigrant share increases economic concern (at least in the short run, though I do not test that).</a:t>
            </a:r>
          </a:p>
          <a:p>
            <a:r>
              <a:rPr lang="en-GB" b="1" dirty="0"/>
              <a:t>H2 (Self-interest interaction):</a:t>
            </a:r>
            <a:r>
              <a:rPr lang="en-GB" dirty="0"/>
              <a:t> Individuals with (history of) unemployment show stronger negative reaction to higher immigrant share.</a:t>
            </a:r>
          </a:p>
          <a:p>
            <a:r>
              <a:rPr lang="en-GB" b="1" dirty="0"/>
              <a:t>H3 (Alternative </a:t>
            </a:r>
            <a:r>
              <a:rPr lang="en-GB" b="1" dirty="0" err="1"/>
              <a:t>sociotropic</a:t>
            </a:r>
            <a:r>
              <a:rPr lang="en-GB" b="1" dirty="0"/>
              <a:t> prediction):</a:t>
            </a:r>
            <a:r>
              <a:rPr lang="en-GB" dirty="0"/>
              <a:t> Individual unemployment </a:t>
            </a:r>
            <a:r>
              <a:rPr lang="en-GB" i="1" dirty="0"/>
              <a:t>does not</a:t>
            </a:r>
            <a:r>
              <a:rPr lang="en-GB" dirty="0"/>
              <a:t> moderate effects; contextual economic indicators matter instead.</a:t>
            </a:r>
          </a:p>
          <a:p>
            <a:endParaRPr lang="en-GB" dirty="0"/>
          </a:p>
        </p:txBody>
      </p:sp>
    </p:spTree>
    <p:extLst>
      <p:ext uri="{BB962C8B-B14F-4D97-AF65-F5344CB8AC3E}">
        <p14:creationId xmlns:p14="http://schemas.microsoft.com/office/powerpoint/2010/main" val="34176734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0B32C30-5F49-9740-3359-8AF8F3B0501E}"/>
              </a:ext>
            </a:extLst>
          </p:cNvPr>
          <p:cNvSpPr>
            <a:spLocks noGrp="1"/>
          </p:cNvSpPr>
          <p:nvPr>
            <p:ph type="title"/>
          </p:nvPr>
        </p:nvSpPr>
        <p:spPr/>
        <p:txBody>
          <a:bodyPr/>
          <a:lstStyle/>
          <a:p>
            <a:r>
              <a:rPr lang="en-GB" dirty="0"/>
              <a:t>Data &amp; Method</a:t>
            </a:r>
          </a:p>
        </p:txBody>
      </p:sp>
      <p:sp>
        <p:nvSpPr>
          <p:cNvPr id="3" name="Tijdelijke aanduiding voor inhoud 2">
            <a:extLst>
              <a:ext uri="{FF2B5EF4-FFF2-40B4-BE49-F238E27FC236}">
                <a16:creationId xmlns:a16="http://schemas.microsoft.com/office/drawing/2014/main" id="{98E5B5E1-B361-E127-4804-1B3920637270}"/>
              </a:ext>
            </a:extLst>
          </p:cNvPr>
          <p:cNvSpPr>
            <a:spLocks noGrp="1"/>
          </p:cNvSpPr>
          <p:nvPr>
            <p:ph idx="1"/>
          </p:nvPr>
        </p:nvSpPr>
        <p:spPr/>
        <p:txBody>
          <a:bodyPr>
            <a:normAutofit/>
          </a:bodyPr>
          <a:lstStyle/>
          <a:p>
            <a:r>
              <a:rPr lang="en-GB" dirty="0"/>
              <a:t>ESS rounds 5-11 (2010-2022)</a:t>
            </a:r>
          </a:p>
          <a:p>
            <a:r>
              <a:rPr lang="en-GB" dirty="0"/>
              <a:t>Merged with country-year “foreign born share” (Eurostat)</a:t>
            </a:r>
          </a:p>
          <a:p>
            <a:r>
              <a:rPr lang="en-GB" dirty="0"/>
              <a:t>Had to drop a few countries and rounds of ESS because of Eurostat data</a:t>
            </a:r>
          </a:p>
          <a:p>
            <a:endParaRPr lang="en-GB" dirty="0"/>
          </a:p>
        </p:txBody>
      </p:sp>
    </p:spTree>
    <p:extLst>
      <p:ext uri="{BB962C8B-B14F-4D97-AF65-F5344CB8AC3E}">
        <p14:creationId xmlns:p14="http://schemas.microsoft.com/office/powerpoint/2010/main" val="22566521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28621F7-62D4-7648-449E-9C9606B4C4DC}"/>
              </a:ext>
            </a:extLst>
          </p:cNvPr>
          <p:cNvSpPr>
            <a:spLocks noGrp="1"/>
          </p:cNvSpPr>
          <p:nvPr>
            <p:ph type="title"/>
          </p:nvPr>
        </p:nvSpPr>
        <p:spPr/>
        <p:txBody>
          <a:bodyPr/>
          <a:lstStyle/>
          <a:p>
            <a:r>
              <a:rPr lang="en-GB" dirty="0"/>
              <a:t>Data &amp; Method</a:t>
            </a:r>
          </a:p>
        </p:txBody>
      </p:sp>
      <p:sp>
        <p:nvSpPr>
          <p:cNvPr id="3" name="Tijdelijke aanduiding voor inhoud 2">
            <a:extLst>
              <a:ext uri="{FF2B5EF4-FFF2-40B4-BE49-F238E27FC236}">
                <a16:creationId xmlns:a16="http://schemas.microsoft.com/office/drawing/2014/main" id="{8CFF3707-BCFC-599C-DE9F-65A39D0DF906}"/>
              </a:ext>
            </a:extLst>
          </p:cNvPr>
          <p:cNvSpPr>
            <a:spLocks noGrp="1"/>
          </p:cNvSpPr>
          <p:nvPr>
            <p:ph idx="1"/>
          </p:nvPr>
        </p:nvSpPr>
        <p:spPr/>
        <p:txBody>
          <a:bodyPr/>
          <a:lstStyle/>
          <a:p>
            <a:r>
              <a:rPr lang="en-GB" dirty="0"/>
              <a:t>Country and year fixed effects</a:t>
            </a:r>
          </a:p>
          <a:p>
            <a:r>
              <a:rPr lang="en-GB" dirty="0"/>
              <a:t>Individual-level: age, education, nativity, gender</a:t>
            </a:r>
          </a:p>
          <a:p>
            <a:r>
              <a:rPr lang="en-GB" dirty="0"/>
              <a:t>Dependent variable: </a:t>
            </a:r>
            <a:r>
              <a:rPr lang="en-GB" i="1" dirty="0" err="1"/>
              <a:t>imbgeco</a:t>
            </a:r>
            <a:r>
              <a:rPr lang="en-GB" i="1" dirty="0"/>
              <a:t> – “</a:t>
            </a:r>
            <a:r>
              <a:rPr lang="en-GB" dirty="0"/>
              <a:t>Immigrants are good for the economy.”</a:t>
            </a:r>
          </a:p>
          <a:p>
            <a:r>
              <a:rPr lang="en-GB" dirty="0"/>
              <a:t>Key independent variables: </a:t>
            </a:r>
            <a:r>
              <a:rPr lang="en-GB" dirty="0" err="1"/>
              <a:t>imm_share</a:t>
            </a:r>
            <a:r>
              <a:rPr lang="en-GB" dirty="0"/>
              <a:t>, </a:t>
            </a:r>
            <a:r>
              <a:rPr lang="en-GB" i="1" dirty="0"/>
              <a:t>uemp3m</a:t>
            </a:r>
            <a:r>
              <a:rPr lang="en-GB" dirty="0"/>
              <a:t> (ever 3+ months unemployed), </a:t>
            </a:r>
            <a:r>
              <a:rPr lang="en-GB" u="sng" dirty="0"/>
              <a:t>interaction term</a:t>
            </a:r>
          </a:p>
          <a:p>
            <a:r>
              <a:rPr lang="en-GB" dirty="0"/>
              <a:t>Controls standardized</a:t>
            </a:r>
          </a:p>
          <a:p>
            <a:endParaRPr lang="en-GB" dirty="0"/>
          </a:p>
        </p:txBody>
      </p:sp>
    </p:spTree>
    <p:extLst>
      <p:ext uri="{BB962C8B-B14F-4D97-AF65-F5344CB8AC3E}">
        <p14:creationId xmlns:p14="http://schemas.microsoft.com/office/powerpoint/2010/main" val="1396645296"/>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066CF0C-D002-02C2-C833-25F0BA62DC97}"/>
              </a:ext>
            </a:extLst>
          </p:cNvPr>
          <p:cNvSpPr>
            <a:spLocks noGrp="1"/>
          </p:cNvSpPr>
          <p:nvPr>
            <p:ph type="title"/>
          </p:nvPr>
        </p:nvSpPr>
        <p:spPr/>
        <p:txBody>
          <a:bodyPr/>
          <a:lstStyle/>
          <a:p>
            <a:r>
              <a:rPr lang="en-GB" dirty="0"/>
              <a:t>Results</a:t>
            </a:r>
          </a:p>
        </p:txBody>
      </p:sp>
      <p:sp>
        <p:nvSpPr>
          <p:cNvPr id="3" name="Tijdelijke aanduiding voor inhoud 2">
            <a:extLst>
              <a:ext uri="{FF2B5EF4-FFF2-40B4-BE49-F238E27FC236}">
                <a16:creationId xmlns:a16="http://schemas.microsoft.com/office/drawing/2014/main" id="{90DBF8B3-257E-CD09-2E65-6362E56E9D1B}"/>
              </a:ext>
            </a:extLst>
          </p:cNvPr>
          <p:cNvSpPr>
            <a:spLocks noGrp="1"/>
          </p:cNvSpPr>
          <p:nvPr>
            <p:ph idx="1"/>
          </p:nvPr>
        </p:nvSpPr>
        <p:spPr>
          <a:xfrm>
            <a:off x="838200" y="1825625"/>
            <a:ext cx="6205973" cy="4351338"/>
          </a:xfrm>
        </p:spPr>
        <p:txBody>
          <a:bodyPr/>
          <a:lstStyle/>
          <a:p>
            <a:r>
              <a:rPr lang="en-GB" dirty="0"/>
              <a:t>Unemployment, immigration levels, age, education, nativism (a bit strange), and gender (0=female, 1=male) all statistically </a:t>
            </a:r>
            <a:r>
              <a:rPr lang="en-GB" dirty="0" err="1"/>
              <a:t>signigicant</a:t>
            </a:r>
            <a:endParaRPr lang="en-GB" dirty="0"/>
          </a:p>
          <a:p>
            <a:r>
              <a:rPr lang="en-GB" dirty="0"/>
              <a:t>However, interaction term not significant</a:t>
            </a:r>
          </a:p>
          <a:p>
            <a:r>
              <a:rPr lang="en-GB" dirty="0"/>
              <a:t>Also, immigration levels term is positive. Probably reflects complicated temporal effects</a:t>
            </a:r>
          </a:p>
        </p:txBody>
      </p:sp>
      <p:pic>
        <p:nvPicPr>
          <p:cNvPr id="11" name="Afbeelding 10" descr="Afbeelding met tekst, menu, schermopname, document&#10;&#10;Door AI gegenereerde inhoud is mogelijk onjuist.">
            <a:extLst>
              <a:ext uri="{FF2B5EF4-FFF2-40B4-BE49-F238E27FC236}">
                <a16:creationId xmlns:a16="http://schemas.microsoft.com/office/drawing/2014/main" id="{1949B785-1B38-E84C-F74B-A90878769595}"/>
              </a:ext>
            </a:extLst>
          </p:cNvPr>
          <p:cNvPicPr>
            <a:picLocks noChangeAspect="1"/>
          </p:cNvPicPr>
          <p:nvPr/>
        </p:nvPicPr>
        <p:blipFill>
          <a:blip r:embed="rId2"/>
          <a:stretch>
            <a:fillRect/>
          </a:stretch>
        </p:blipFill>
        <p:spPr>
          <a:xfrm>
            <a:off x="7044173" y="141020"/>
            <a:ext cx="2959182" cy="6575959"/>
          </a:xfrm>
          <a:prstGeom prst="rect">
            <a:avLst/>
          </a:prstGeom>
        </p:spPr>
      </p:pic>
    </p:spTree>
    <p:extLst>
      <p:ext uri="{BB962C8B-B14F-4D97-AF65-F5344CB8AC3E}">
        <p14:creationId xmlns:p14="http://schemas.microsoft.com/office/powerpoint/2010/main" val="7224143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D70FAF9-2A0A-F830-866E-4786E4A8599B}"/>
              </a:ext>
            </a:extLst>
          </p:cNvPr>
          <p:cNvSpPr>
            <a:spLocks noGrp="1"/>
          </p:cNvSpPr>
          <p:nvPr>
            <p:ph type="title"/>
          </p:nvPr>
        </p:nvSpPr>
        <p:spPr/>
        <p:txBody>
          <a:bodyPr/>
          <a:lstStyle/>
          <a:p>
            <a:r>
              <a:rPr lang="en-GB" dirty="0"/>
              <a:t>Marginal Effects</a:t>
            </a:r>
          </a:p>
        </p:txBody>
      </p:sp>
      <p:pic>
        <p:nvPicPr>
          <p:cNvPr id="5" name="Tijdelijke aanduiding voor inhoud 4" descr="Afbeelding met tekst, lijn, schermopname, Lettertype&#10;&#10;Door AI gegenereerde inhoud is mogelijk onjuist.">
            <a:extLst>
              <a:ext uri="{FF2B5EF4-FFF2-40B4-BE49-F238E27FC236}">
                <a16:creationId xmlns:a16="http://schemas.microsoft.com/office/drawing/2014/main" id="{0ADAA158-D88C-31F5-B363-F1A420E9F6C2}"/>
              </a:ext>
            </a:extLst>
          </p:cNvPr>
          <p:cNvPicPr>
            <a:picLocks noGrp="1" noChangeAspect="1"/>
          </p:cNvPicPr>
          <p:nvPr>
            <p:ph idx="1"/>
          </p:nvPr>
        </p:nvPicPr>
        <p:blipFill>
          <a:blip r:embed="rId3"/>
          <a:stretch>
            <a:fillRect/>
          </a:stretch>
        </p:blipFill>
        <p:spPr>
          <a:xfrm>
            <a:off x="5978559" y="2468176"/>
            <a:ext cx="5123762" cy="3351856"/>
          </a:xfrm>
        </p:spPr>
      </p:pic>
      <p:pic>
        <p:nvPicPr>
          <p:cNvPr id="7" name="Afbeelding 6" descr="Afbeelding met tekst, schermopname, lijn, Parallel&#10;&#10;Door AI gegenereerde inhoud is mogelijk onjuist.">
            <a:extLst>
              <a:ext uri="{FF2B5EF4-FFF2-40B4-BE49-F238E27FC236}">
                <a16:creationId xmlns:a16="http://schemas.microsoft.com/office/drawing/2014/main" id="{9FD1C6F9-2A4A-C0D5-CDD1-20F219411770}"/>
              </a:ext>
            </a:extLst>
          </p:cNvPr>
          <p:cNvPicPr>
            <a:picLocks noChangeAspect="1"/>
          </p:cNvPicPr>
          <p:nvPr/>
        </p:nvPicPr>
        <p:blipFill>
          <a:blip r:embed="rId4"/>
          <a:stretch>
            <a:fillRect/>
          </a:stretch>
        </p:blipFill>
        <p:spPr>
          <a:xfrm>
            <a:off x="957060" y="2468177"/>
            <a:ext cx="4502168" cy="3202848"/>
          </a:xfrm>
          <a:prstGeom prst="rect">
            <a:avLst/>
          </a:prstGeom>
        </p:spPr>
      </p:pic>
      <p:sp>
        <p:nvSpPr>
          <p:cNvPr id="8" name="Tekstvak 7">
            <a:extLst>
              <a:ext uri="{FF2B5EF4-FFF2-40B4-BE49-F238E27FC236}">
                <a16:creationId xmlns:a16="http://schemas.microsoft.com/office/drawing/2014/main" id="{825B02CD-51B8-8668-8E1A-6C1C3596576A}"/>
              </a:ext>
            </a:extLst>
          </p:cNvPr>
          <p:cNvSpPr txBox="1"/>
          <p:nvPr/>
        </p:nvSpPr>
        <p:spPr>
          <a:xfrm>
            <a:off x="7360020" y="5820032"/>
            <a:ext cx="2360839" cy="369332"/>
          </a:xfrm>
          <a:prstGeom prst="rect">
            <a:avLst/>
          </a:prstGeom>
          <a:noFill/>
        </p:spPr>
        <p:txBody>
          <a:bodyPr wrap="none" rtlCol="0">
            <a:spAutoFit/>
          </a:bodyPr>
          <a:lstStyle/>
          <a:p>
            <a:r>
              <a:rPr lang="en-GB" dirty="0" err="1"/>
              <a:t>Finseraas</a:t>
            </a:r>
            <a:r>
              <a:rPr lang="en-GB" dirty="0"/>
              <a:t> et al. (2016)</a:t>
            </a:r>
          </a:p>
        </p:txBody>
      </p:sp>
      <p:sp>
        <p:nvSpPr>
          <p:cNvPr id="9" name="Tekstvak 8">
            <a:extLst>
              <a:ext uri="{FF2B5EF4-FFF2-40B4-BE49-F238E27FC236}">
                <a16:creationId xmlns:a16="http://schemas.microsoft.com/office/drawing/2014/main" id="{594EFFB0-7613-6585-0599-42733CEC6EF1}"/>
              </a:ext>
            </a:extLst>
          </p:cNvPr>
          <p:cNvSpPr txBox="1"/>
          <p:nvPr/>
        </p:nvSpPr>
        <p:spPr>
          <a:xfrm>
            <a:off x="2027724" y="5820032"/>
            <a:ext cx="1554336" cy="369332"/>
          </a:xfrm>
          <a:prstGeom prst="rect">
            <a:avLst/>
          </a:prstGeom>
          <a:noFill/>
        </p:spPr>
        <p:txBody>
          <a:bodyPr wrap="none" rtlCol="0">
            <a:spAutoFit/>
          </a:bodyPr>
          <a:lstStyle/>
          <a:p>
            <a:r>
              <a:rPr lang="en-GB" dirty="0"/>
              <a:t>My regression</a:t>
            </a:r>
          </a:p>
        </p:txBody>
      </p:sp>
    </p:spTree>
    <p:extLst>
      <p:ext uri="{BB962C8B-B14F-4D97-AF65-F5344CB8AC3E}">
        <p14:creationId xmlns:p14="http://schemas.microsoft.com/office/powerpoint/2010/main" val="38520609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AD35F4A-1637-7EE2-C414-5ABCCEE26A25}"/>
              </a:ext>
            </a:extLst>
          </p:cNvPr>
          <p:cNvSpPr>
            <a:spLocks noGrp="1"/>
          </p:cNvSpPr>
          <p:nvPr>
            <p:ph type="title"/>
          </p:nvPr>
        </p:nvSpPr>
        <p:spPr/>
        <p:txBody>
          <a:bodyPr/>
          <a:lstStyle/>
          <a:p>
            <a:r>
              <a:rPr lang="en-GB" dirty="0"/>
              <a:t>Interpretation</a:t>
            </a:r>
          </a:p>
        </p:txBody>
      </p:sp>
      <p:sp>
        <p:nvSpPr>
          <p:cNvPr id="3" name="Tijdelijke aanduiding voor inhoud 2">
            <a:extLst>
              <a:ext uri="{FF2B5EF4-FFF2-40B4-BE49-F238E27FC236}">
                <a16:creationId xmlns:a16="http://schemas.microsoft.com/office/drawing/2014/main" id="{E027AB8F-7562-25BC-AA14-4FCF4F6CDAC6}"/>
              </a:ext>
            </a:extLst>
          </p:cNvPr>
          <p:cNvSpPr>
            <a:spLocks noGrp="1"/>
          </p:cNvSpPr>
          <p:nvPr>
            <p:ph idx="1"/>
          </p:nvPr>
        </p:nvSpPr>
        <p:spPr/>
        <p:txBody>
          <a:bodyPr/>
          <a:lstStyle/>
          <a:p>
            <a:r>
              <a:rPr lang="en-GB" dirty="0"/>
              <a:t>Although individual level unemployment does cause anti-immigration</a:t>
            </a:r>
          </a:p>
          <a:p>
            <a:r>
              <a:rPr lang="en-GB" dirty="0"/>
              <a:t>No evidence that this is increased by higher immigrant share</a:t>
            </a:r>
          </a:p>
          <a:p>
            <a:r>
              <a:rPr lang="en-GB" dirty="0"/>
              <a:t>Supports socio-tropic interpretation of the effect that </a:t>
            </a:r>
            <a:r>
              <a:rPr lang="en-GB" dirty="0" err="1"/>
              <a:t>Finseraas</a:t>
            </a:r>
            <a:r>
              <a:rPr lang="en-GB" dirty="0"/>
              <a:t> et al. (2016) find</a:t>
            </a:r>
          </a:p>
          <a:p>
            <a:pPr lvl="1"/>
            <a:r>
              <a:rPr lang="en-GB" dirty="0"/>
              <a:t>Individuals do not evaluate immigration based on their own job history</a:t>
            </a:r>
          </a:p>
          <a:p>
            <a:pPr marL="457200" lvl="1" indent="0">
              <a:buNone/>
            </a:pPr>
            <a:endParaRPr lang="en-GB" dirty="0"/>
          </a:p>
          <a:p>
            <a:pPr lvl="1"/>
            <a:endParaRPr lang="en-GB" dirty="0"/>
          </a:p>
        </p:txBody>
      </p:sp>
    </p:spTree>
    <p:extLst>
      <p:ext uri="{BB962C8B-B14F-4D97-AF65-F5344CB8AC3E}">
        <p14:creationId xmlns:p14="http://schemas.microsoft.com/office/powerpoint/2010/main" val="38410077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B792D81-944B-89F3-F01C-C9ACF6ADB525}"/>
              </a:ext>
            </a:extLst>
          </p:cNvPr>
          <p:cNvSpPr>
            <a:spLocks noGrp="1"/>
          </p:cNvSpPr>
          <p:nvPr>
            <p:ph type="title"/>
          </p:nvPr>
        </p:nvSpPr>
        <p:spPr/>
        <p:txBody>
          <a:bodyPr/>
          <a:lstStyle/>
          <a:p>
            <a:r>
              <a:rPr lang="en-GB" dirty="0"/>
              <a:t>Robustness</a:t>
            </a:r>
          </a:p>
        </p:txBody>
      </p:sp>
      <p:sp>
        <p:nvSpPr>
          <p:cNvPr id="3" name="Tijdelijke aanduiding voor inhoud 2">
            <a:extLst>
              <a:ext uri="{FF2B5EF4-FFF2-40B4-BE49-F238E27FC236}">
                <a16:creationId xmlns:a16="http://schemas.microsoft.com/office/drawing/2014/main" id="{1794AE33-BE77-B2B5-0BE8-C7BDBB24A763}"/>
              </a:ext>
            </a:extLst>
          </p:cNvPr>
          <p:cNvSpPr>
            <a:spLocks noGrp="1"/>
          </p:cNvSpPr>
          <p:nvPr>
            <p:ph idx="1"/>
          </p:nvPr>
        </p:nvSpPr>
        <p:spPr/>
        <p:txBody>
          <a:bodyPr/>
          <a:lstStyle/>
          <a:p>
            <a:r>
              <a:rPr lang="en-GB" dirty="0"/>
              <a:t>I am sure there are many things wrong with my methodology</a:t>
            </a:r>
          </a:p>
          <a:p>
            <a:r>
              <a:rPr lang="en-GB" dirty="0"/>
              <a:t>Personal unemployment is a poor proxy for subjective economic threat</a:t>
            </a:r>
          </a:p>
          <a:p>
            <a:r>
              <a:rPr lang="en-GB" dirty="0"/>
              <a:t>Within-country variation in immigrant share may not be large enough or meaningful enough to trigger perceived </a:t>
            </a:r>
            <a:r>
              <a:rPr lang="en-GB" dirty="0" err="1"/>
              <a:t>labor</a:t>
            </a:r>
            <a:r>
              <a:rPr lang="en-GB" dirty="0"/>
              <a:t>-market competition</a:t>
            </a:r>
          </a:p>
          <a:p>
            <a:endParaRPr lang="en-GB" dirty="0"/>
          </a:p>
          <a:p>
            <a:endParaRPr lang="en-GB" dirty="0"/>
          </a:p>
          <a:p>
            <a:endParaRPr lang="en-GB" dirty="0"/>
          </a:p>
          <a:p>
            <a:endParaRPr lang="en-GB" dirty="0"/>
          </a:p>
          <a:p>
            <a:endParaRPr lang="en-GB" dirty="0"/>
          </a:p>
        </p:txBody>
      </p:sp>
    </p:spTree>
    <p:extLst>
      <p:ext uri="{BB962C8B-B14F-4D97-AF65-F5344CB8AC3E}">
        <p14:creationId xmlns:p14="http://schemas.microsoft.com/office/powerpoint/2010/main" val="18023337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EA110E2-ADED-8972-62EA-01FA8E623AE6}"/>
              </a:ext>
            </a:extLst>
          </p:cNvPr>
          <p:cNvSpPr>
            <a:spLocks noGrp="1"/>
          </p:cNvSpPr>
          <p:nvPr>
            <p:ph type="title"/>
          </p:nvPr>
        </p:nvSpPr>
        <p:spPr/>
        <p:txBody>
          <a:bodyPr/>
          <a:lstStyle/>
          <a:p>
            <a:r>
              <a:rPr lang="en-GB" dirty="0"/>
              <a:t>References</a:t>
            </a:r>
          </a:p>
        </p:txBody>
      </p:sp>
      <p:sp>
        <p:nvSpPr>
          <p:cNvPr id="3" name="Tijdelijke aanduiding voor inhoud 2">
            <a:extLst>
              <a:ext uri="{FF2B5EF4-FFF2-40B4-BE49-F238E27FC236}">
                <a16:creationId xmlns:a16="http://schemas.microsoft.com/office/drawing/2014/main" id="{F49EECF1-4DDD-25F3-BF8E-4230AD8E02D2}"/>
              </a:ext>
            </a:extLst>
          </p:cNvPr>
          <p:cNvSpPr>
            <a:spLocks noGrp="1"/>
          </p:cNvSpPr>
          <p:nvPr>
            <p:ph idx="1"/>
          </p:nvPr>
        </p:nvSpPr>
        <p:spPr/>
        <p:txBody>
          <a:bodyPr/>
          <a:lstStyle/>
          <a:p>
            <a:r>
              <a:rPr lang="en-GB" dirty="0" err="1"/>
              <a:t>Finseraas</a:t>
            </a:r>
            <a:r>
              <a:rPr lang="en-GB" dirty="0"/>
              <a:t> et al. (2016)</a:t>
            </a:r>
          </a:p>
          <a:p>
            <a:r>
              <a:rPr lang="en-GB" dirty="0"/>
              <a:t>Claassen and McLaren (2021)</a:t>
            </a:r>
          </a:p>
          <a:p>
            <a:r>
              <a:rPr lang="en-GB" dirty="0"/>
              <a:t>Cavaille and Marshall (2018)</a:t>
            </a:r>
          </a:p>
          <a:p>
            <a:r>
              <a:rPr lang="en-GB" dirty="0"/>
              <a:t>Jeannet (2018)</a:t>
            </a:r>
          </a:p>
          <a:p>
            <a:r>
              <a:rPr lang="en-GB" dirty="0"/>
              <a:t>Laaker (2024)</a:t>
            </a:r>
          </a:p>
          <a:p>
            <a:r>
              <a:rPr lang="en-GB" dirty="0"/>
              <a:t>Magni (2020)</a:t>
            </a:r>
          </a:p>
          <a:p>
            <a:r>
              <a:rPr lang="en-GB" dirty="0" err="1"/>
              <a:t>Hainmueller</a:t>
            </a:r>
            <a:r>
              <a:rPr lang="en-GB" dirty="0"/>
              <a:t> and Hopkins (2014)</a:t>
            </a:r>
          </a:p>
        </p:txBody>
      </p:sp>
    </p:spTree>
    <p:extLst>
      <p:ext uri="{BB962C8B-B14F-4D97-AF65-F5344CB8AC3E}">
        <p14:creationId xmlns:p14="http://schemas.microsoft.com/office/powerpoint/2010/main" val="1412261427"/>
      </p:ext>
    </p:extLst>
  </p:cSld>
  <p:clrMapOvr>
    <a:masterClrMapping/>
  </p:clrMapOvr>
</p:sld>
</file>

<file path=ppt/theme/theme1.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985</TotalTime>
  <Words>499</Words>
  <Application>Microsoft Macintosh PowerPoint</Application>
  <PresentationFormat>Breedbeeld</PresentationFormat>
  <Paragraphs>64</Paragraphs>
  <Slides>12</Slides>
  <Notes>2</Notes>
  <HiddenSlides>0</HiddenSlides>
  <MMClips>0</MMClips>
  <ScaleCrop>false</ScaleCrop>
  <HeadingPairs>
    <vt:vector size="6" baseType="variant">
      <vt:variant>
        <vt:lpstr>Gebruikte lettertypen</vt:lpstr>
      </vt:variant>
      <vt:variant>
        <vt:i4>3</vt:i4>
      </vt:variant>
      <vt:variant>
        <vt:lpstr>Thema</vt:lpstr>
      </vt:variant>
      <vt:variant>
        <vt:i4>1</vt:i4>
      </vt:variant>
      <vt:variant>
        <vt:lpstr>Diatitels</vt:lpstr>
      </vt:variant>
      <vt:variant>
        <vt:i4>12</vt:i4>
      </vt:variant>
    </vt:vector>
  </HeadingPairs>
  <TitlesOfParts>
    <vt:vector size="16" baseType="lpstr">
      <vt:lpstr>Aptos</vt:lpstr>
      <vt:lpstr>Aptos Display</vt:lpstr>
      <vt:lpstr>Arial</vt:lpstr>
      <vt:lpstr>Kantoorthema</vt:lpstr>
      <vt:lpstr>Attitudes to immigrants</vt:lpstr>
      <vt:lpstr>Background</vt:lpstr>
      <vt:lpstr>Theoretical Framework</vt:lpstr>
      <vt:lpstr>Research Question</vt:lpstr>
      <vt:lpstr>Hypotheses</vt:lpstr>
      <vt:lpstr>Data &amp; Method</vt:lpstr>
      <vt:lpstr>Data &amp; Method</vt:lpstr>
      <vt:lpstr>Results</vt:lpstr>
      <vt:lpstr>Marginal Effects</vt:lpstr>
      <vt:lpstr>Interpretation</vt:lpstr>
      <vt:lpstr>Robustness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Olivier Berg</dc:creator>
  <cp:lastModifiedBy>Olivier Berg</cp:lastModifiedBy>
  <cp:revision>8</cp:revision>
  <dcterms:created xsi:type="dcterms:W3CDTF">2025-11-20T21:44:54Z</dcterms:created>
  <dcterms:modified xsi:type="dcterms:W3CDTF">2026-02-22T22:29:47Z</dcterms:modified>
</cp:coreProperties>
</file>